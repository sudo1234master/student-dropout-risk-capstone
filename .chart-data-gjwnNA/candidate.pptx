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fb1ca112a4784" /><Relationship Type="http://schemas.openxmlformats.org/officeDocument/2006/relationships/extended-properties" Target="/docProps/app.xml" Id="R9240880c764d46fe" /><Relationship Type="http://schemas.openxmlformats.org/officeDocument/2006/relationships/officeDocument" Target="/ppt/presentation.xml" Id="R5627a3341ba7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25df46d444325"/>
  </p:sldMasterIdLst>
  <p:notesMasterIdLst>
    <p:notesMasterId xmlns:r="http://schemas.openxmlformats.org/officeDocument/2006/relationships" r:id="Rf5c3633ea0b54062"/>
  </p:notesMasterIdLst>
  <p:sldIdLst>
    <p:sldId xmlns:r="http://schemas.openxmlformats.org/officeDocument/2006/relationships" id="256" r:id="R43491153368043d7"/>
    <p:sldId xmlns:r="http://schemas.openxmlformats.org/officeDocument/2006/relationships" id="257" r:id="R0f370a5a4c3e4a7d"/>
    <p:sldId xmlns:r="http://schemas.openxmlformats.org/officeDocument/2006/relationships" id="258" r:id="R78caff2742b94c23"/>
    <p:sldId xmlns:r="http://schemas.openxmlformats.org/officeDocument/2006/relationships" id="259" r:id="R81530f26373f459f"/>
    <p:sldId xmlns:r="http://schemas.openxmlformats.org/officeDocument/2006/relationships" id="260" r:id="R5f2050c31b6245fe"/>
    <p:sldId xmlns:r="http://schemas.openxmlformats.org/officeDocument/2006/relationships" id="261" r:id="R3d0ad62ff6f94cc0"/>
    <p:sldId xmlns:r="http://schemas.openxmlformats.org/officeDocument/2006/relationships" id="262" r:id="Rcdbf77cc7dc34c50"/>
    <p:sldId xmlns:r="http://schemas.openxmlformats.org/officeDocument/2006/relationships" id="263" r:id="R6ff3c19972454188"/>
    <p:sldId xmlns:r="http://schemas.openxmlformats.org/officeDocument/2006/relationships" id="264" r:id="Rb1373e0c785246ea"/>
    <p:sldId xmlns:r="http://schemas.openxmlformats.org/officeDocument/2006/relationships" id="265" r:id="Ra7dfb2ae38e947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7fec9a80a449e" /><Relationship Type="http://schemas.openxmlformats.org/officeDocument/2006/relationships/slideMaster" Target="/ppt/slideMasters/slideMaster1.xml" Id="Ra1d25df46d444325" /><Relationship Type="http://schemas.openxmlformats.org/officeDocument/2006/relationships/notesMaster" Target="/ppt/notesMasters/notesMaster1.xml" Id="Rf5c3633ea0b54062" /><Relationship Type="http://schemas.openxmlformats.org/officeDocument/2006/relationships/presProps" Target="/ppt/presProps.xml" Id="R10650f451ba7443e" /><Relationship Type="http://schemas.openxmlformats.org/officeDocument/2006/relationships/tableStyles" Target="/ppt/tableStyles.xml" Id="R518b8c6fcd724fbd" /><Relationship Type="http://schemas.openxmlformats.org/officeDocument/2006/relationships/slide" Target="/ppt/slides/slide1.xml" Id="R43491153368043d7" /><Relationship Type="http://schemas.openxmlformats.org/officeDocument/2006/relationships/slide" Target="/ppt/slides/slide2.xml" Id="R0f370a5a4c3e4a7d" /><Relationship Type="http://schemas.openxmlformats.org/officeDocument/2006/relationships/slide" Target="/ppt/slides/slide3.xml" Id="R78caff2742b94c23" /><Relationship Type="http://schemas.openxmlformats.org/officeDocument/2006/relationships/slide" Target="/ppt/slides/slide4.xml" Id="R81530f26373f459f" /><Relationship Type="http://schemas.openxmlformats.org/officeDocument/2006/relationships/slide" Target="/ppt/slides/slide5.xml" Id="R5f2050c31b6245fe" /><Relationship Type="http://schemas.openxmlformats.org/officeDocument/2006/relationships/slide" Target="/ppt/slides/slide6.xml" Id="R3d0ad62ff6f94cc0" /><Relationship Type="http://schemas.openxmlformats.org/officeDocument/2006/relationships/slide" Target="/ppt/slides/slide7.xml" Id="Rcdbf77cc7dc34c50" /><Relationship Type="http://schemas.openxmlformats.org/officeDocument/2006/relationships/slide" Target="/ppt/slides/slide8.xml" Id="R6ff3c19972454188" /><Relationship Type="http://schemas.openxmlformats.org/officeDocument/2006/relationships/slide" Target="/ppt/slides/slide9.xml" Id="Rb1373e0c785246ea" /><Relationship Type="http://schemas.openxmlformats.org/officeDocument/2006/relationships/slide" Target="/ppt/slides/slide10.xml" Id="Ra7dfb2ae38e9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7c3f4b2792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4a65a22b64855" /><Relationship Type="http://schemas.openxmlformats.org/officeDocument/2006/relationships/notesMaster" Target="/ppt/notesMasters/notesMaster1.xml" Id="R997dc328bd01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ee8723559245e5" /><Relationship Type="http://schemas.openxmlformats.org/officeDocument/2006/relationships/notesMaster" Target="/ppt/notesMasters/notesMaster1.xml" Id="Rb8900296030d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e93e5c0f34cd4" /><Relationship Type="http://schemas.openxmlformats.org/officeDocument/2006/relationships/notesMaster" Target="/ppt/notesMasters/notesMaster1.xml" Id="R2d4fd4558aeb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39d6b1ebed42ff" /><Relationship Type="http://schemas.openxmlformats.org/officeDocument/2006/relationships/notesMaster" Target="/ppt/notesMasters/notesMaster1.xml" Id="R139f379a333a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306198c66c41f0" /><Relationship Type="http://schemas.openxmlformats.org/officeDocument/2006/relationships/notesMaster" Target="/ppt/notesMasters/notesMaster1.xml" Id="R6d15b2dbc3884c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b6904040e4aa6" /><Relationship Type="http://schemas.openxmlformats.org/officeDocument/2006/relationships/notesMaster" Target="/ppt/notesMasters/notesMaster1.xml" Id="R59ea72bd4971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7d9829b89436f" /><Relationship Type="http://schemas.openxmlformats.org/officeDocument/2006/relationships/notesMaster" Target="/ppt/notesMasters/notesMaster1.xml" Id="Rf142b7aa941748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fd730f78a40e2" /><Relationship Type="http://schemas.openxmlformats.org/officeDocument/2006/relationships/notesMaster" Target="/ppt/notesMasters/notesMaster1.xml" Id="R876943fe2668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08ee701bd4443" /><Relationship Type="http://schemas.openxmlformats.org/officeDocument/2006/relationships/notesMaster" Target="/ppt/notesMasters/notesMaster1.xml" Id="Ra6d330d8801447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ca82454ad84b49" /><Relationship Type="http://schemas.openxmlformats.org/officeDocument/2006/relationships/notesMaster" Target="/ppt/notesMasters/notesMaster1.xml" Id="Rfe89be39af7f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 - Instructions.pdf and reports/task4_model_summary.json.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reports/task3_analysis_summary.json. Dataset DOI: https://doi.org/10.24432/C5MC89.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reports/task5_bias_fairness_analysis.md.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reports/tables/task4/top_30pct_capacity_metrics.csv.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reports/tables/task4/heldout_test_metrics.csv and reports/tables/task4/heldout_confusion_matrices.csv.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reports/tables/task5/shap_grouped_feature_importance.csv. Relative values divide each mean absolute SHAP value by the largest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reports/tables/task5/fairness_group_metrics.csv and reports/tables/task5/fairness_gap_metrics.csv. Race is unavailable; international status is not treated as 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reports/tables/task5/mitigation_plan.csv.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reports/task5_bias_fairness_analysis.md. Pilot duration and financial ROI require institution-specific inputs and are not estimated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reports/task4_model_summary.json and reports/task5_bias_fairness_analysis.md.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346ed5481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429de66834a92" /><Relationship Type="http://schemas.openxmlformats.org/officeDocument/2006/relationships/slideLayout" Target="/ppt/slideLayouts/slideLayout1.xml" Id="Rcdfb078d3a80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fb078d3a80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2d72aa3a4fe0" /><Relationship Type="http://schemas.openxmlformats.org/officeDocument/2006/relationships/notesSlide" Target="/ppt/notesSlides/notesSlide1.xml" Id="Rc3b1b6599c9847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c03bee4c460a" /><Relationship Type="http://schemas.openxmlformats.org/officeDocument/2006/relationships/chart" Target="/ppt/slides/charts/chart1.xml" Id="R90a7fc7ff1e04193" /><Relationship Type="http://schemas.openxmlformats.org/officeDocument/2006/relationships/notesSlide" Target="/ppt/notesSlides/notesSlide2.xml" Id="Rf6117cd2d42c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597d9454472e" /><Relationship Type="http://schemas.openxmlformats.org/officeDocument/2006/relationships/notesSlide" Target="/ppt/notesSlides/notesSlide3.xml" Id="R8876ee447f0a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3176600742b8" /><Relationship Type="http://schemas.openxmlformats.org/officeDocument/2006/relationships/chart" Target="/ppt/slides/charts/chart2.xml" Id="R64565d7e1f364a6f" /><Relationship Type="http://schemas.openxmlformats.org/officeDocument/2006/relationships/notesSlide" Target="/ppt/notesSlides/notesSlide4.xml" Id="R3bc84fc5538b4c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786f4d26d4d60" /><Relationship Type="http://schemas.openxmlformats.org/officeDocument/2006/relationships/chart" Target="/ppt/slides/charts/chart3.xml" Id="R437d2890a9f34275" /><Relationship Type="http://schemas.openxmlformats.org/officeDocument/2006/relationships/notesSlide" Target="/ppt/notesSlides/notesSlide5.xml" Id="R5d5ab1ebedca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940b6973d4ae3" /><Relationship Type="http://schemas.openxmlformats.org/officeDocument/2006/relationships/chart" Target="/ppt/slides/charts/chart4.xml" Id="R5bb8a8ff48214c23" /><Relationship Type="http://schemas.openxmlformats.org/officeDocument/2006/relationships/notesSlide" Target="/ppt/notesSlides/notesSlide6.xml" Id="Rfab415d7d6dd41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72444a3b6481e" /><Relationship Type="http://schemas.openxmlformats.org/officeDocument/2006/relationships/chart" Target="/ppt/slides/charts/chart5.xml" Id="R7f7b7ba68da34c59" /><Relationship Type="http://schemas.openxmlformats.org/officeDocument/2006/relationships/notesSlide" Target="/ppt/notesSlides/notesSlide7.xml" Id="R7340c2ced66b46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123c6df28489f" /><Relationship Type="http://schemas.openxmlformats.org/officeDocument/2006/relationships/notesSlide" Target="/ppt/notesSlides/notesSlide8.xml" Id="R26e6bdecc97b4d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65f14bb847b0" /><Relationship Type="http://schemas.openxmlformats.org/officeDocument/2006/relationships/notesSlide" Target="/ppt/notesSlides/notesSlide9.xml" Id="R3d5f97d6f2044d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0a2dbcb34333" /><Relationship Type="http://schemas.openxmlformats.org/officeDocument/2006/relationships/notesSlide" Target="/ppt/notesSlides/notesSlide10.xml" Id="R747bac9a88aa4b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Outcome share</c:v>
          </c:tx>
          <c:dPt>
            <c:idx val="0"/>
            <c:spPr>
              <a:solidFill xmlns:a="http://schemas.openxmlformats.org/drawingml/2006/main">
                <a:srgbClr val="D4475C"/>
              </a:solidFill>
            </c:spPr>
          </c:dPt>
          <c:dPt>
            <c:idx val="1"/>
            <c:spPr>
              <a:solidFill xmlns:a="http://schemas.openxmlformats.org/drawingml/2006/main">
                <a:srgbClr val="D2A52A"/>
              </a:solidFill>
            </c:spPr>
          </c:dPt>
          <c:dPt>
            <c:idx val="2"/>
            <c:spPr>
              <a:solidFill xmlns:a="http://schemas.openxmlformats.org/drawingml/2006/main">
                <a:srgbClr val="12827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0.3212</c:v>
                </c:pt>
                <c:pt idx="1">
                  <c:v>0.1795</c:v>
                </c:pt>
                <c:pt idx="2">
                  <c:v>0.4993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Dropout capture</c:v>
          </c:tx>
          <c:dPt>
            <c:idx val="0"/>
            <c:invertIfNegative val="0"/>
            <c:spPr>
              <a:solidFill xmlns:a="http://schemas.openxmlformats.org/drawingml/2006/main">
                <a:srgbClr val="71869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28279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Minimum target</c:v>
                </c:pt>
                <c:pt idx="1">
                  <c:v>Held-out result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0.6</c:v>
                </c:pt>
                <c:pt idx="1">
                  <c:v>0.728873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Default</c:v>
          </c:tx>
          <c:spPr>
            <a:solidFill xmlns:a="http://schemas.openxmlformats.org/drawingml/2006/main">
              <a:srgbClr val="71869A"/>
            </a:solidFill>
          </c:spPr>
          <c:cat>
            <c:strRef>
              <c:f>'Chart Data'!$A$2:$A$4</c:f>
              <c:strCache>
                <c:ptCount val="3"/>
                <c:pt idx="0">
                  <c:v>Dropout recall</c:v>
                </c:pt>
                <c:pt idx="1">
                  <c:v>Dropout precision</c:v>
                </c:pt>
                <c:pt idx="2">
                  <c:v>Macro F1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0.739437</c:v>
                </c:pt>
                <c:pt idx="1">
                  <c:v>0.758123</c:v>
                </c:pt>
                <c:pt idx="2">
                  <c:v>0.665888</c:v>
                </c:pt>
              </c:numCache>
            </c:numRef>
          </c:val>
        </c:ser>
        <c:ser>
          <c:idx val="1"/>
          <c:order val="1"/>
          <c:tx>
            <c:v>Tuned threshold</c:v>
          </c:tx>
          <c:spPr>
            <a:solidFill xmlns:a="http://schemas.openxmlformats.org/drawingml/2006/main">
              <a:srgbClr val="D4475C"/>
            </a:solidFill>
          </c:spPr>
          <c:cat>
            <c:strRef>
              <c:f>'Chart Data'!$C$2:$C$4</c:f>
              <c:strCache>
                <c:ptCount val="3"/>
                <c:pt idx="0">
                  <c:v>Dropout recall</c:v>
                </c:pt>
                <c:pt idx="1">
                  <c:v>Dropout precision</c:v>
                </c:pt>
                <c:pt idx="2">
                  <c:v>Macro F1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0.838028</c:v>
                </c:pt>
                <c:pt idx="1">
                  <c:v>0.626316</c:v>
                </c:pt>
                <c:pt idx="2">
                  <c:v>0.583239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Relative influence</c:v>
          </c:tx>
          <c:spPr>
            <a:solidFill xmlns:a="http://schemas.openxmlformats.org/drawingml/2006/main">
              <a:srgbClr val="128279"/>
            </a:solidFill>
          </c:spPr>
          <c:cat>
            <c:strRef>
              <c:f>'Chart Data'!$A$2:$A$6</c:f>
              <c:strCache>
                <c:ptCount val="5"/>
                <c:pt idx="0">
                  <c:v>Approval rate</c:v>
                </c:pt>
                <c:pt idx="1">
                  <c:v>Progress index</c:v>
                </c:pt>
                <c:pt idx="2">
                  <c:v>Tuition current</c:v>
                </c:pt>
                <c:pt idx="3">
                  <c:v>Approved units</c:v>
                </c:pt>
                <c:pt idx="4">
                  <c:v>Financial risk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96.7</c:v>
                </c:pt>
                <c:pt idx="1">
                  <c:v>100</c:v>
                </c:pt>
                <c:pt idx="2">
                  <c:v>87.6</c:v>
                </c:pt>
                <c:pt idx="3">
                  <c:v>75.6</c:v>
                </c:pt>
                <c:pt idx="4">
                  <c:v>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dropout</c:v>
          </c:tx>
          <c:spPr>
            <a:solidFill xmlns:a="http://schemas.openxmlformats.org/drawingml/2006/main">
              <a:srgbClr val="12304A"/>
            </a:solidFill>
          </c:spPr>
          <c:cat>
            <c:strRef>
              <c:f>'Chart Data'!$A$2:$A$7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Under 25</c:v>
                </c:pt>
                <c:pt idx="3">
                  <c:v>Age 25+</c:v>
                </c:pt>
                <c:pt idx="4">
                  <c:v>No financial risk</c:v>
                </c:pt>
                <c:pt idx="5">
                  <c:v>Financial risk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0.24386</c:v>
                </c:pt>
                <c:pt idx="1">
                  <c:v>0.460317</c:v>
                </c:pt>
                <c:pt idx="2">
                  <c:v>0.238095</c:v>
                </c:pt>
                <c:pt idx="3">
                  <c:v>0.551282</c:v>
                </c:pt>
                <c:pt idx="4">
                  <c:v>0.238764</c:v>
                </c:pt>
                <c:pt idx="5">
                  <c:v>0.65896</c:v>
                </c:pt>
              </c:numCache>
            </c:numRef>
          </c:val>
        </c:ser>
        <c:ser>
          <c:idx val="1"/>
          <c:order val="1"/>
          <c:tx>
            <c:v>Model alert</c:v>
          </c:tx>
          <c:spPr>
            <a:solidFill xmlns:a="http://schemas.openxmlformats.org/drawingml/2006/main">
              <a:srgbClr val="D4475C"/>
            </a:solidFill>
          </c:spPr>
          <c:cat>
            <c:strRef>
              <c:f>'Chart Data'!$C$2:$C$7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Under 25</c:v>
                </c:pt>
                <c:pt idx="3">
                  <c:v>Age 25+</c:v>
                </c:pt>
                <c:pt idx="4">
                  <c:v>No financial risk</c:v>
                </c:pt>
                <c:pt idx="5">
                  <c:v>Financial risk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0.359649</c:v>
                </c:pt>
                <c:pt idx="1">
                  <c:v>0.555556</c:v>
                </c:pt>
                <c:pt idx="2">
                  <c:v>0.345622</c:v>
                </c:pt>
                <c:pt idx="3">
                  <c:v>0.662393</c:v>
                </c:pt>
                <c:pt idx="4">
                  <c:v>0.325843</c:v>
                </c:pt>
                <c:pt idx="5">
                  <c:v>0.855491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E784F-4AB5-466C-9588-DD4E5D8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97180-564A-457A-965C-19D6072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92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Student dropout early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909B3-0048-41EE-A966-E173547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CDE3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CDE3E3"/>
                </a:solidFill>
                <a:latin typeface="Helvetica Neue"/>
                <a:ea typeface="Helvetica Neue"/>
                <a:cs typeface="Helvetica Neue"/>
              </a:rPr>
              <a:t>A controlled support pilot after the first semester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FFB1F-510F-4733-8631-A45D71C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rPr>
              <a:t>Business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D30E-E607-4738-BE52-37512C5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Random Forest model for an end-of-first-semester intervention point</a:t>
            </a:r>
          </a:p>
        </p:txBody>
      </p:sp>
    </p:spTree>
    <p:extLst>
      <p:ext uri="{BB962C8B-B14F-4D97-AF65-F5344CB8AC3E}">
        <p14:creationId xmlns:p14="http://schemas.microsoft.com/office/powerpoint/2010/main" val="221884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274ED-3CE4-494F-9219-E22B671A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support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9A58-9B40-4A5A-A94E-9447C19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3591B-D3D6-4C49-9A27-8690366F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Prioritize outreach after first-semester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E4FE-2842-41DC-93B2-5BC7A9C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1,421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FC863-893E-4E40-A102-29DFD5F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historical dropouts in the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A3995-C038-43CE-B268-5F6E986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The model ranks students by dropout risk once first-semester academic information is available. Support teams can use the ranking to focus limited counseling and financial-assistance capacity.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BE75-E8B6-4B7E-9D0B-A7E49FD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Source: UCI dataset, 4,424 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FFA6-FF12-4BAE-848E-3DD1CF89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715000" y="1428750"/>
          <a:ext xmlns:a="http://schemas.openxmlformats.org/drawingml/2006/main" cx="5334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a7fc7ff1e04193"/>
          </a:graphicData>
        </a:graphic>
      </p:graphicFrame>
    </p:spTree>
    <p:extLst>
      <p:ext uri="{BB962C8B-B14F-4D97-AF65-F5344CB8AC3E}">
        <p14:creationId xmlns:p14="http://schemas.microsoft.com/office/powerpoint/2010/main" val="1715416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3F54B-982C-42B1-BCEC-14B4D78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Model purpose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BCA06-2E3E-4F3D-8D32-B2914FB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1DF02-CEC6-4B63-990F-EDE2A6A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What the model provides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530AA-1DBC-4E8F-95CE-5EAFD1D0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three-class probability for Dropout, Enrolled, and Graduate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ranked list for capacity-constrained support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dropout alert tuned to prioritize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79FD1-ED7F-416F-A403-95155A4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716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9BA0E-F36E-49EE-9CAF-1106246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What the model cannot provide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EC598-F55B-4A74-8DD5-53E0696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667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causal explanation of why a student may leave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Guaranteed performance at another institution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basis for automated exclusion, discipline, grading, or financial penalties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CD93A-2C73-4024-8BA2-2D38A9B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model supports a human decision. It does not replace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091A3-4ABD-4168-A70D-186808F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Scope: end-of-first-semester support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74DFD-EB20-41BA-95D4-85DAF31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7968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E253-BE82-4684-928E-CFC2F00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30% review list captures </a:t>
            </a: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72.9%</a:t>
            </a: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of historical dropouts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EA53-9C5F-4D02-9BAA-48BCFC5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E4970-9836-4166-9074-7C00BD3C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207 of 284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D6BC4-974C-4A36-843F-E67D18B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050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actual dropouts appear in the highest-risk 30%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3DF3A-E40B-4ABF-8AAB-EAA8202D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33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77.8%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30865-AD99-41D1-B7C0-59DD89A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precision in the review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1595F-93F9-44D4-9C1C-D90D3BB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2.43×</a:t>
            </a: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lift over random targeting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F4D94-7E7C-4EB7-8EED-0D92FCC0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Held-out test set: 885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5B95-9D00-4CBD-9FF1-675AE5E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286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565d7e1f364a6f"/>
          </a:graphicData>
        </a:graphic>
      </p:graphicFrame>
    </p:spTree>
    <p:extLst>
      <p:ext uri="{BB962C8B-B14F-4D97-AF65-F5344CB8AC3E}">
        <p14:creationId xmlns:p14="http://schemas.microsoft.com/office/powerpoint/2010/main" val="801842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E4F4D-5103-44F0-AA0D-41835166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Higher dropout recall comes with more false positives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34815-DEF2-4804-8C79-AEED97C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E975-E779-40AC-9F69-5DF1501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Default prediction compared with the </a:t>
            </a: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0.23</a:t>
            </a: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 alert 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579A-5420-462A-A60D-B8A1BD3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tuned rule finds </a:t>
            </a: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238 of 284</a:t>
            </a: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dropouts.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DC24B-8040-4419-A450-51A866B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It also alerts </a:t>
            </a: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142 students</a:t>
            </a: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who did not drop out. Outreach must remain supportive and low burden.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21BAA-C9EC-4587-9567-8DFFF52D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Held-out thresholded and default predictions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F1603-9D2C-4BF6-AD02-93322C08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7d2890a9f34275"/>
          </a:graphicData>
        </a:graphic>
      </p:graphicFrame>
    </p:spTree>
    <p:extLst>
      <p:ext uri="{BB962C8B-B14F-4D97-AF65-F5344CB8AC3E}">
        <p14:creationId xmlns:p14="http://schemas.microsoft.com/office/powerpoint/2010/main" val="932716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7F92-21A1-4810-92CF-5646542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Academic progress and tuition status drive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DFF93-CE3F-4481-B88C-EF9FF52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A60F-4EF7-4A44-B655-AB417CE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Relative SHAP influence, top feature indexed to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9363F-DB06-435C-B6A9-BC98DE6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this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ED303-8967-49BA-B157-1409AF7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85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First-semester progress provides the strongest risk signal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Financial indicators materially affect risk scores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These relationships explain the model and do not prove causation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A5087-7404-400A-8403-59A1932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Tree SHAP across all 885 held-out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B9111-214D-4AA5-88E4-D4A1DD9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b8a8ff48214c23"/>
          </a:graphicData>
        </a:graphic>
      </p:graphicFrame>
    </p:spTree>
    <p:extLst>
      <p:ext uri="{BB962C8B-B14F-4D97-AF65-F5344CB8AC3E}">
        <p14:creationId xmlns:p14="http://schemas.microsoft.com/office/powerpoint/2010/main" val="191190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F80FE-A887-4270-BE11-E1C0315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Financial indicators require the strongest fairness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E73D-EDE8-46CA-B90E-BBC7E63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06E7C-3B1B-40DC-BB96-F0A9008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Observed dropout rates compared with model alert 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7683-A6A5-41B0-AB98-6C7EFF25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41.5%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839C0-88C7-4168-963A-167A122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maximum TPR/FPR gap for the financial-risk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5FFE0-849A-4369-A5A4-6F2EC09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862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Flags require review. They do not prove discrimination.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97677-226D-4AAA-9E3C-13CDC66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Audit fields: gender, age, international status, financial and scholarship proxies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E01CB-B9DB-49F7-968C-C1DB901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80962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7b7ba68da34c59"/>
          </a:graphicData>
        </a:graphic>
      </p:graphicFrame>
    </p:spTree>
    <p:extLst>
      <p:ext uri="{BB962C8B-B14F-4D97-AF65-F5344CB8AC3E}">
        <p14:creationId xmlns:p14="http://schemas.microsoft.com/office/powerpoint/2010/main" val="1552192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C08CE-7181-46B5-BC74-6D5712D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Supportive use needs explicit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0EC05-6DF6-4961-B6DB-58F9DC7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93F9B-B04C-4077-9B99-EFD949F5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2CC7E-CC2C-4C4E-8A6F-497F95B6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04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Support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DFC0-D5ED-49E4-8B59-96FDDA0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049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Use alerts for counseling, tutoring, and assistance. Prohibit punitive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EA417-A134-43FE-9FFC-20F5D9A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71152-C922-4DBF-9284-D607682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CA4F3-88BD-4B81-9A9C-992F06D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003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5D802-3AB8-49D2-8956-24B91F8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03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Confirm context before contact. Avoid automatic case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30776-A9C8-4D20-A8BD-7A7F42D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A3ECA-1789-47F2-AD35-378E06A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DD44F-3311-4D50-99C7-A424E446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95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Explanation and appeal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611C4-2A36-4E5A-8FB7-5CCBF42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957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Give students plain-language reasons and a way to correct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788ED-5182-437B-90C9-2D4FB87D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3EB2C-76C9-491F-8BB2-DEF1CC6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AE77D-009C-4F94-A016-7F8E860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910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BAD33-9D63-47BF-B78A-8114B1C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910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Track recall, false-positive rates, calibration, workload, and outcomes by cohort and group.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CEFCD-0B7D-4658-A767-1F94E83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Governance controls before any student-facing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C6056-6563-43C5-BC5D-CFD5B94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2666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AFE13-A004-410C-9388-A47E6D7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Pilot evidence should determine whether the model advances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4845B-1A93-4005-BAAC-F57FA45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CDADA-634C-433A-BEC2-A322CB5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919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E9AD6-90E3-49E1-80D2-9ABF9C6D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77D9B-A1A2-422C-8FC8-E25679D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D78F4-3DF8-49D7-8385-A93A09CE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Recalibrate on current institutional data and confirm governance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DA5FA-5E41-4EF1-B9FD-E39403B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55222-3055-4DED-A316-7B01C1F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57541-F86D-4782-B651-41BDEFC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Use one cohort with limited counselors and non-punitive outreach.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171DA-3ADB-4B68-B578-075DA40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FED2F-D42F-4C4B-AE50-0D111073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9E988-B9B3-4589-BE5F-397E5E9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Compare contact, uptake, retention, workload, and subgroup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5774E-D577-4334-A590-734A39AD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7486-BB4E-4805-806B-966EDA9E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AF1EB-D2A6-4D8C-8D99-9866934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Advance, revise, or stop using predefined performance and fairness thresholds.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A89A3-3F17-4F8C-83E4-5C9623A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Any mitigation or threshold change needs a new validation cohort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D552F-F2DF-45EC-BE7F-728D464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0352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13A42-AF8D-4104-996D-5258230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8E5F5-0ED7-43E0-97D0-4A4A3FA9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Controlled support pilot with stop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2739F-FB03-4C0F-8F3E-5DAC1F6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5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2EC"/>
                </a:solidFill>
                <a:latin typeface="Helvetica Neue"/>
                <a:ea typeface="Helvetica Neue"/>
                <a:cs typeface="Helvetica Neue"/>
              </a:rPr>
              <a:t>The model met all predefined held-out targets. Fairness gaps, calibration needs, and single-institution data prevent unrestricted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3501D-FAE1-41B9-8B40-D7188F9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Proceed only when the institution confirms: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A81BA-3881-49A0-913B-22570275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FE1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FE1DE"/>
                </a:solidFill>
                <a:latin typeface="Helvetica Neue"/>
                <a:ea typeface="Helvetica Neue"/>
                <a:cs typeface="Helvetica Neue"/>
              </a:rPr>
              <a:t>Support-only policy, accountable owner, human review, appeal path, and monitoring with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BB55-1860-42E1-ACCA-3E19281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rPr>
              <a:t>Financial return remains unquantified until the pilot measures intervention costs and retention uplift.</a:t>
            </a:r>
          </a:p>
        </p:txBody>
      </p:sp>
    </p:spTree>
    <p:extLst>
      <p:ext uri="{BB962C8B-B14F-4D97-AF65-F5344CB8AC3E}">
        <p14:creationId xmlns:p14="http://schemas.microsoft.com/office/powerpoint/2010/main" val="34347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2026-09-07T08:14:11.9860000Z</dcterms:created>
  <dcterms:modified xsi:type="dcterms:W3CDTF">2026-09-07T08:14:11.9860000Z</dcterms:modified>
</coreProperties>
</file>